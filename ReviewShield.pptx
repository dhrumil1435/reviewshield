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pline Sans Mono"/>
      <p:regular r:id="rId201318"/>
    </p:embeddedFont>
    <p:embeddedFont>
      <p:font typeface="Spline Sa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11835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1707455"/>
            <a:ext cx="6248244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spc="416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REVIEWSHIELD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61981" y="2635052"/>
            <a:ext cx="685782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AI-powered deceptive review detection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981" y="3158232"/>
            <a:ext cx="68578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Stylometric profiling, RoBERTa transformers, and explainable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1981" y="3592513"/>
            <a:ext cx="68578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Presenters: D25DIT095 - DHRUMIL RANA &amp; 24DIT070 - GITANSHU THAKKAR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54793" y="4470400"/>
            <a:ext cx="3174921" cy="1270000"/>
          </a:xfrm>
          <a:prstGeom prst="roundRect">
            <a:avLst>
              <a:gd name="adj" fmla="val 2400"/>
            </a:avLst>
          </a:prstGeom>
          <a:solidFill>
            <a:srgbClr val="22262C"/>
          </a:solidFill>
          <a:ln/>
        </p:spPr>
      </p:sp>
      <p:sp>
        <p:nvSpPr>
          <p:cNvPr id="8" name="Text 6"/>
          <p:cNvSpPr/>
          <p:nvPr/>
        </p:nvSpPr>
        <p:spPr>
          <a:xfrm>
            <a:off x="8534187" y="4699000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CLASSIFICATION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34187" y="4968180"/>
            <a:ext cx="261613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89.67%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34187" y="5740301"/>
            <a:ext cx="322571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ROC-AUC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34187" y="6009481"/>
            <a:ext cx="261613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0.9609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Fake reviews sound positive. Their writing gives them away.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501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451001"/>
            <a:ext cx="5410065" cy="1796355"/>
          </a:xfrm>
          <a:prstGeom prst="roundRect">
            <a:avLst>
              <a:gd name="adj" fmla="val 636"/>
            </a:avLst>
          </a:prstGeom>
          <a:solidFill>
            <a:srgbClr val="16181C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679601"/>
            <a:ext cx="49528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Traditional sentiment models miss deceptive reviews.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046" y="2451001"/>
            <a:ext cx="5410065" cy="1796355"/>
          </a:xfrm>
          <a:prstGeom prst="roundRect">
            <a:avLst>
              <a:gd name="adj" fmla="val 636"/>
            </a:avLst>
          </a:prstGeom>
          <a:solidFill>
            <a:srgbClr val="1618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640" y="2679601"/>
            <a:ext cx="40639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640" y="3235226"/>
            <a:ext cx="49528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Language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640" y="3724176"/>
            <a:ext cx="518147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ReviewShield studies how language is written.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585" y="4399756"/>
            <a:ext cx="5410065" cy="1796355"/>
          </a:xfrm>
          <a:prstGeom prst="roundRect">
            <a:avLst>
              <a:gd name="adj" fmla="val 636"/>
            </a:avLst>
          </a:prstGeom>
          <a:solidFill>
            <a:srgbClr val="16181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4628356"/>
            <a:ext cx="40639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8179" y="5183981"/>
            <a:ext cx="49528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Dissonance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38179" y="5672931"/>
            <a:ext cx="518147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 psychology meets sentiment mismatch.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72046" y="4399756"/>
            <a:ext cx="5410065" cy="1796355"/>
          </a:xfrm>
          <a:prstGeom prst="roundRect">
            <a:avLst>
              <a:gd name="adj" fmla="val 636"/>
            </a:avLst>
          </a:prstGeom>
          <a:solidFill>
            <a:srgbClr val="1618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4628356"/>
            <a:ext cx="406390" cy="406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640" y="5183981"/>
            <a:ext cx="49528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Impact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00640" y="5672931"/>
            <a:ext cx="518147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 trust, ratings, and purchase decisions.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428623" y="6461125"/>
            <a:ext cx="76307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STYLOMETRIC PROFILING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10972526" cy="60831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Stylometry turns writing style into signal.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09888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567112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Vocabulary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4056063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Type-Token Ratio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measures word diversity.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2909888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3567112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Structure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495688" y="4056063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Punctuation frequency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sentence length.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2909888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196" y="3567112"/>
            <a:ext cx="342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153196" y="4056063"/>
            <a:ext cx="34289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Flesch Reading Ease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tests naturalness.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09585" y="60427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Three compact lenses expose patterns sentiment alone overlooks.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4" y="6527701"/>
            <a:ext cx="10464538" cy="12690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60743" y="1741091"/>
            <a:ext cx="12700" cy="407302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6" name="Shape 10"/>
          <p:cNvSpPr/>
          <p:nvPr/>
        </p:nvSpPr>
        <p:spPr>
          <a:xfrm>
            <a:off x="7918252" y="1741091"/>
            <a:ext cx="12700" cy="407302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7" name="Text 11"/>
          <p:cNvSpPr/>
          <p:nvPr/>
        </p:nvSpPr>
        <p:spPr>
          <a:xfrm>
            <a:off x="11425150" y="6461125"/>
            <a:ext cx="7665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SENTIMENT DISSONANCE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10972526" cy="60831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Two sentiment engines reveal dissonance.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741091"/>
            <a:ext cx="3657509" cy="4507309"/>
          </a:xfrm>
          <a:custGeom>
            <a:avLst/>
            <a:gdLst/>
            <a:ahLst/>
            <a:cxnLst/>
            <a:rect l="l" t="t" r="r" b="b"/>
            <a:pathLst>
              <a:path w="3657509" h="4507309">
                <a:moveTo>
                  <a:pt x="9525" y="0"/>
                </a:moveTo>
                <a:lnTo>
                  <a:pt x="3657509" y="0"/>
                </a:lnTo>
                <a:lnTo>
                  <a:pt x="3657509" y="4507309"/>
                </a:lnTo>
                <a:lnTo>
                  <a:pt x="9525" y="4507309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22262C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016945"/>
            <a:ext cx="34289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ENGINE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179" y="3286125"/>
            <a:ext cx="32003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VADER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8179" y="3931245"/>
            <a:ext cx="34289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Rule-based surface emotion.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179" y="4454426"/>
            <a:ext cx="32003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−1.0 </a:t>
            </a:r>
            <a:pPr algn="l" indent="0" marL="0">
              <a:lnSpc>
                <a:spcPct val="85000"/>
              </a:lnSpc>
              <a:buNone/>
            </a:pPr>
            <a:r>
              <a:rPr lang="en-US" sz="1800" spc="320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</a:t>
            </a:r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+1.0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267093" y="1741091"/>
            <a:ext cx="3657509" cy="4507309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2869605"/>
            <a:ext cx="34289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ENGINE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95688" y="3138785"/>
            <a:ext cx="3200320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RoBERTa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95688" y="3783905"/>
            <a:ext cx="320032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Contextual sentiment from CardiffNLP.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5688" y="4601666"/>
            <a:ext cx="32003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CONTEXT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53196" y="3021112"/>
            <a:ext cx="34289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53196" y="3290292"/>
            <a:ext cx="3428914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Dissonance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53196" y="3935413"/>
            <a:ext cx="3428914" cy="103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Absolute gap between both scores.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Large gaps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flag hype without deep context.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60743" y="1741091"/>
            <a:ext cx="12700" cy="450730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918252" y="1741091"/>
            <a:ext cx="12700" cy="450730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24753" y="6461125"/>
            <a:ext cx="76694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844729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 hybrid pipeline connects raw text to risk.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428081"/>
            <a:ext cx="34543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RAW 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2697262"/>
            <a:ext cx="2844729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40,412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3469382"/>
            <a:ext cx="284472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Amazon/e-commerce reviews in PostgreSQL.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483" y="2149574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73483" y="2784574"/>
            <a:ext cx="28447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Warehouse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673483" y="3273524"/>
            <a:ext cx="284472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SQLAlchemy manages warehouse access.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73483" y="4091285"/>
            <a:ext cx="2844729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Schemas: raw_reviews, engineered_features, system_logs.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381" y="2425105"/>
            <a:ext cx="406390" cy="4064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810" y="2425105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7381" y="3060105"/>
            <a:ext cx="28447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Features · Risk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737381" y="3549055"/>
            <a:ext cx="284472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ColumnTransformer combines 9 scaled features and 2,000 TF-IDF word n-grams.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057548" y="0"/>
            <a:ext cx="12700" cy="685800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5" name="Shape 10"/>
          <p:cNvSpPr/>
          <p:nvPr/>
        </p:nvSpPr>
        <p:spPr>
          <a:xfrm>
            <a:off x="8121447" y="0"/>
            <a:ext cx="12700" cy="685800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6" name="Text 11"/>
          <p:cNvSpPr/>
          <p:nvPr/>
        </p:nvSpPr>
        <p:spPr>
          <a:xfrm>
            <a:off x="11422967" y="6461125"/>
            <a:ext cx="76872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MODEL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10972526" cy="60831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Logistic Regression leads the benchmark.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741091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Best model balances accuracy, precision, recall, and ranking quality.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64271"/>
          <a:ext cx="10972526" cy="914400"/>
        </p:xfrm>
        <a:graphic>
          <a:graphicData uri="http://schemas.openxmlformats.org/drawingml/2006/table">
            <a:tbl>
              <a:tblPr/>
              <a:tblGrid>
                <a:gridCol w="3291698"/>
                <a:gridCol w="1865266"/>
                <a:gridCol w="1865266"/>
                <a:gridCol w="1865266"/>
                <a:gridCol w="2085030"/>
              </a:tblGrid>
              <a:tr h="535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MODEL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ACCURACY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PRECISION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RECALL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10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ROC-AUC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Logistic Regression · BEST MODEL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5F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89.67%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90.48%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88.66%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5F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0.9609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SGDClassifier · LogLoss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88.44%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88.44%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—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0.9479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1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Random Forest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82.89%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86.97%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—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0.9132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26142" y="6461125"/>
            <a:ext cx="7655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55670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455670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Every prediction can explain itself.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82701"/>
            <a:ext cx="4556706" cy="11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TF-IDF weights become live word highlights.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F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</a:t>
            </a:r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deceptive triggers like </a:t>
            </a:r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“must buy”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10B98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GREEN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genuine customer signal keywords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414117"/>
            <a:ext cx="455670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Tooltips show each word’s contribution weight.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409" y="6461125"/>
            <a:ext cx="76128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380" y="609600"/>
            <a:ext cx="5958631" cy="3098502"/>
          </a:xfrm>
          <a:prstGeom prst="roundRect">
            <a:avLst>
              <a:gd name="adj" fmla="val 1038"/>
            </a:avLst>
          </a:prstGeom>
          <a:solidFill>
            <a:srgbClr val="22262C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91670" y="927100"/>
            <a:ext cx="55904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REVIEW TEXT · LIVE HIGHLIGHTS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91670" y="1243905"/>
            <a:ext cx="52220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product is </a:t>
            </a:r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EEF1F4"/>
                </a:solidFill>
                <a:highlight>
                  <a:srgbClr val="EF4444"/>
                </a:highlight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must buy</a:t>
            </a:r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every home. The fit felt </a:t>
            </a:r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10B981"/>
                </a:highlight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comfortable</a:t>
            </a:r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the material held up.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91670" y="2550021"/>
            <a:ext cx="5221951" cy="31651"/>
          </a:xfrm>
          <a:prstGeom prst="roundRect">
            <a:avLst>
              <a:gd name="adj" fmla="val 49998"/>
            </a:avLst>
          </a:prstGeom>
          <a:solidFill>
            <a:srgbClr val="3A414A"/>
          </a:solidFill>
          <a:ln/>
        </p:spPr>
      </p:sp>
      <p:sp>
        <p:nvSpPr>
          <p:cNvPr id="11" name="Text 9"/>
          <p:cNvSpPr/>
          <p:nvPr/>
        </p:nvSpPr>
        <p:spPr>
          <a:xfrm>
            <a:off x="5991670" y="2782987"/>
            <a:ext cx="55904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Contribution weight · deceptive trigger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INVESTIGATION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8780"/>
            <a:ext cx="10972526" cy="60831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Streamlit app, four ways to investigate.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741091"/>
            <a:ext cx="5486263" cy="2253655"/>
          </a:xfrm>
          <a:custGeom>
            <a:avLst/>
            <a:gdLst/>
            <a:ahLst/>
            <a:cxnLst/>
            <a:rect l="l" t="t" r="r" b="b"/>
            <a:pathLst>
              <a:path w="5486263" h="2253655">
                <a:moveTo>
                  <a:pt x="9525" y="0"/>
                </a:moveTo>
                <a:lnTo>
                  <a:pt x="5486263" y="0"/>
                </a:lnTo>
                <a:lnTo>
                  <a:pt x="5486263" y="2253655"/>
                </a:lnTo>
                <a:lnTo>
                  <a:pt x="0" y="2253655"/>
                </a:lnTo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2226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6969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525316"/>
            <a:ext cx="50290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Single scanner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3014266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Real-time score and risk flags.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969691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2525316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Batch scanner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24442" y="3014266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10k+ rows and CSV export.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223345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4778970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Model insights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09585" y="5267920"/>
            <a:ext cx="548626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Benchmarks and coefficient charts.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223345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4442" y="4778970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Database analytics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324442" y="5267920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counters and logs.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089498" y="1741091"/>
            <a:ext cx="12700" cy="2253655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8" name="Shape 12"/>
          <p:cNvSpPr/>
          <p:nvPr/>
        </p:nvSpPr>
        <p:spPr>
          <a:xfrm>
            <a:off x="609585" y="3988395"/>
            <a:ext cx="5486263" cy="1270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3994745"/>
            <a:ext cx="12700" cy="2253655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0" name="Shape 14"/>
          <p:cNvSpPr/>
          <p:nvPr/>
        </p:nvSpPr>
        <p:spPr>
          <a:xfrm>
            <a:off x="6095848" y="3988395"/>
            <a:ext cx="5486263" cy="12700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1" name="Text 15"/>
          <p:cNvSpPr/>
          <p:nvPr/>
        </p:nvSpPr>
        <p:spPr>
          <a:xfrm>
            <a:off x="11422967" y="6461125"/>
            <a:ext cx="76872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533400"/>
            <a:ext cx="754361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4185" y="802580"/>
            <a:ext cx="69594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core system is already built.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4185" y="1582341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899841"/>
            <a:ext cx="8226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4185" y="2184301"/>
            <a:ext cx="3251019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2325191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40,412 reviews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4185" y="2814141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Ingested into PostgreSQL.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2493" y="1899841"/>
            <a:ext cx="86298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2493" y="2184301"/>
            <a:ext cx="3251019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1" name="Text 9"/>
          <p:cNvSpPr/>
          <p:nvPr/>
        </p:nvSpPr>
        <p:spPr>
          <a:xfrm>
            <a:off x="4292493" y="2325191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RoBERTa engine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2493" y="2814141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Integrated with PyTorch.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4185" y="3565922"/>
            <a:ext cx="8685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4185" y="3850382"/>
            <a:ext cx="3251019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5" name="Text 13"/>
          <p:cNvSpPr/>
          <p:nvPr/>
        </p:nvSpPr>
        <p:spPr>
          <a:xfrm>
            <a:off x="584185" y="3991273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best_model_pipeline.joblib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4185" y="4480223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Serialized for reuse.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2493" y="3565922"/>
            <a:ext cx="8677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2493" y="3850382"/>
            <a:ext cx="3251019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9" name="Text 17"/>
          <p:cNvSpPr/>
          <p:nvPr/>
        </p:nvSpPr>
        <p:spPr>
          <a:xfrm>
            <a:off x="4292493" y="3991273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Streamlit app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2493" y="4480223"/>
            <a:ext cx="32511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Dark mode with XAI highlighting.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9585" y="6461125"/>
            <a:ext cx="76585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609600"/>
            <a:ext cx="1117572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76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NEXT 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81" y="878780"/>
            <a:ext cx="10566136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CAPSTONE PROTOTYPE TO PRODUCTION SERVICE.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1981" y="2219821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537321"/>
            <a:ext cx="24129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1981" y="2806502"/>
            <a:ext cx="2412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FastAPI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1981" y="3295452"/>
            <a:ext cx="24129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 /predict with Swagger.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9713" y="2537321"/>
            <a:ext cx="24129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PHASE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9713" y="2806502"/>
            <a:ext cx="2412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Visuals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9713" y="3295452"/>
            <a:ext cx="24129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Word clouds and stylometric radar charts.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7445" y="2537321"/>
            <a:ext cx="24129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PHASE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7445" y="2806502"/>
            <a:ext cx="2412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Audit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97445" y="3295452"/>
            <a:ext cx="24129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prediction audit logging.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177" y="2537321"/>
            <a:ext cx="24129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PHASE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15177" y="2806502"/>
            <a:ext cx="24129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Deploy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15177" y="3295452"/>
            <a:ext cx="24129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Docker and AWS/Render deployment.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1981" y="4113213"/>
            <a:ext cx="111757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Q&amp;A · github.com/Dhrumil1435/ReviewShield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2026-10-03T10:02:27Z</dcterms:created>
  <dcterms:modified xsi:type="dcterms:W3CDTF">2026-10-03T10:02:27Z</dcterms:modified>
</cp:coreProperties>
</file>